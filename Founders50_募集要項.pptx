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</p:sldMasterIdLst>
  <p:notesMasterIdLst>
    <p:notesMasterId r:id="rId36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9906000" cy="6858000" type="A4"/>
  <p:notesSz cx="6807200" cy="9939338"/>
  <p:custDataLst>
    <p:tags r:id="rId3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3120" userDrawn="1">
          <p15:clr>
            <a:srgbClr val="A0A6AE"/>
          </p15:clr>
        </p15:guide>
        <p15:guide id="3" orient="horz" pos="2137" userDrawn="1">
          <p15:clr>
            <a:srgbClr val="A0A6AE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20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4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91" autoAdjust="0"/>
  </p:normalViewPr>
  <p:slideViewPr>
    <p:cSldViewPr snapToGrid="0" showGuides="1">
      <p:cViewPr varScale="1">
        <p:scale>
          <a:sx n="166" d="100"/>
          <a:sy n="166" d="100"/>
        </p:scale>
        <p:origin x="3606" y="144"/>
      </p:cViewPr>
      <p:guideLst>
        <p:guide pos="3120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6" Type="http://schemas.openxmlformats.org/officeDocument/2006/relationships/notesMaster" Target="notesMasters/notesMaster1.xml"/><Relationship Id="rId37" Type="http://schemas.openxmlformats.org/officeDocument/2006/relationships/tags" Target="tags/tag1.xml"/><Relationship Id="rId38" Type="http://schemas.openxmlformats.org/officeDocument/2006/relationships/commentAuthors" Target="commentAuthor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375" cy="498966"/>
          </a:xfrm>
          <a:prstGeom prst="rect">
            <a:avLst/>
          </a:prstGeom>
        </p:spPr>
        <p:txBody>
          <a:bodyPr vert="horz" lIns="92236" tIns="46118" rIns="92236" bIns="46118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221" y="0"/>
            <a:ext cx="2950374" cy="498966"/>
          </a:xfrm>
          <a:prstGeom prst="rect">
            <a:avLst/>
          </a:prstGeom>
        </p:spPr>
        <p:txBody>
          <a:bodyPr vert="horz" lIns="92236" tIns="46118" rIns="92236" bIns="46118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/>
              <a:pPr/>
              <a:t>2026/5/15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418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36" tIns="46118" rIns="92236" bIns="46118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239" y="4783357"/>
            <a:ext cx="5446723" cy="3913364"/>
          </a:xfrm>
          <a:prstGeom prst="rect">
            <a:avLst/>
          </a:prstGeom>
        </p:spPr>
        <p:txBody>
          <a:bodyPr vert="horz" lIns="92236" tIns="46118" rIns="92236" bIns="46118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0372"/>
            <a:ext cx="2950375" cy="498966"/>
          </a:xfrm>
          <a:prstGeom prst="rect">
            <a:avLst/>
          </a:prstGeom>
        </p:spPr>
        <p:txBody>
          <a:bodyPr vert="horz" lIns="92236" tIns="46118" rIns="92236" bIns="46118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221" y="9440372"/>
            <a:ext cx="2950374" cy="498966"/>
          </a:xfrm>
          <a:prstGeom prst="rect">
            <a:avLst/>
          </a:prstGeom>
        </p:spPr>
        <p:txBody>
          <a:bodyPr vert="horz" lIns="92236" tIns="46118" rIns="92236" bIns="46118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タイトル_ ロゴ入り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7499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2523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17600" y="5040000"/>
            <a:ext cx="4536000" cy="615553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表紙タイトル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600" y="5652000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17599" y="6408000"/>
            <a:ext cx="453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953000" y="396000"/>
            <a:ext cx="4536000" cy="676800"/>
          </a:xfrm>
          <a:prstGeom prst="rect">
            <a:avLst/>
          </a:prstGeom>
        </p:spPr>
        <p:txBody>
          <a:bodyPr l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 baseline="0">
                <a:latin typeface="+mn-lt"/>
                <a:ea typeface="+mn-ea"/>
                <a:cs typeface="+mn-cs"/>
                <a:sym typeface="+mn-lt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 dirty="0"/>
              <a:t>クライアント社名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6496" y="432000"/>
            <a:ext cx="1872000" cy="587972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0424FA-1860-43B7-8A94-43021EEC50FC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タイトル ロゴ無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8639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2523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17600" y="5040000"/>
            <a:ext cx="4536000" cy="615553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表紙タイトル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600" y="5652000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17599" y="6408000"/>
            <a:ext cx="453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5C5A3295-3564-4576-96DB-80CBF7A205A7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タイトル_ ロゴ入り_A4_黒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57217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2523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17600" y="5040000"/>
            <a:ext cx="4536000" cy="615553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表紙タイトル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600" y="5652000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17599" y="6408000"/>
            <a:ext cx="453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aseline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953000" y="396000"/>
            <a:ext cx="4536000" cy="676800"/>
          </a:xfrm>
          <a:prstGeom prst="rect">
            <a:avLst/>
          </a:prstGeom>
        </p:spPr>
        <p:txBody>
          <a:bodyPr l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 baseline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 dirty="0"/>
              <a:t>クライアント社名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823F930-1440-4D98-B4B0-A60A3B3453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600" y="432000"/>
            <a:ext cx="1872000" cy="581488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72F109B1-F10E-4107-A5FF-847826BE510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3851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タイトル ロゴ無_A4_黒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857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2523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17600" y="5040000"/>
            <a:ext cx="4536000" cy="615553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表紙タイトル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600" y="5652000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17599" y="6408000"/>
            <a:ext cx="453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A205A9A3-5008-49F4-8A06-BC95DA2477A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43854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 目次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83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17000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5133000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白紙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0479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893000" y="2340000"/>
            <a:ext cx="6120000" cy="252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中表紙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675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29599" y="2232000"/>
            <a:ext cx="5184000" cy="432000"/>
          </a:xfrm>
          <a:prstGeom prst="rect">
            <a:avLst/>
          </a:prstGeom>
          <a:noFill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  <a:sym typeface="+mn-lt"/>
              </a:defRPr>
            </a:lvl1pPr>
          </a:lstStyle>
          <a:p>
            <a:pPr lvl="0"/>
            <a:r>
              <a:rPr lang="ja-JP" altLang="en-US" dirty="0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タイトルのみ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2286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936300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タイトルのみ_Header上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6902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000" y="180000"/>
            <a:ext cx="9072000" cy="360000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00" b="1" baseline="0">
                <a:solidFill>
                  <a:schemeClr val="tx1"/>
                </a:solidFill>
                <a:latin typeface="+mj-lt"/>
                <a:ea typeface="+mj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16496" y="684000"/>
            <a:ext cx="9072000" cy="615600"/>
          </a:xfrm>
        </p:spPr>
        <p:txBody>
          <a:bodyPr vert="horz" anchor="t"/>
          <a:lstStyle>
            <a:lvl1pPr>
              <a:defRPr sz="1800" b="0" baseline="0">
                <a:latin typeface="+mn-lt"/>
                <a:ea typeface="+mn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195220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基本版） コンテンツ左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9392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6496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marR="0" indent="-144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0822A2BF-4EE5-45F6-88E1-9AA10A8C672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06882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基本版） コンテンツ両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2190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6496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marR="0" indent="-144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9" name="コンテンツ プレースホルダ 2"/>
          <p:cNvSpPr>
            <a:spLocks noGrp="1"/>
          </p:cNvSpPr>
          <p:nvPr>
            <p:ph idx="12"/>
          </p:nvPr>
        </p:nvSpPr>
        <p:spPr bwMode="gray">
          <a:xfrm>
            <a:off x="5132388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indent="-1440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10" name="スライド番号プレースホルダ 9"/>
          <p:cNvSpPr>
            <a:spLocks noGrp="1"/>
          </p:cNvSpPr>
          <p:nvPr>
            <p:ph type="sldNum" sz="quarter" idx="13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3EB1B23-9AF8-425B-BAD7-B9FA00F1883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13" name="テキスト プレースホルダー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2388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493855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追加（枠付き）1_（基本版） コンテンツ両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2190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スライド番号プレースホルダ 9"/>
          <p:cNvSpPr>
            <a:spLocks noGrp="1"/>
          </p:cNvSpPr>
          <p:nvPr>
            <p:ph type="sldNum" sz="quarter" idx="13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3EB1B23-9AF8-425B-BAD7-B9FA00F1883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13" name="テキスト プレースホルダー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2388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417000" y="180000"/>
            <a:ext cx="9072000" cy="615600"/>
          </a:xfr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5D32A9D-A951-4E00-A68E-A20588D6FD47}"/>
              </a:ext>
            </a:extLst>
          </p:cNvPr>
          <p:cNvSpPr/>
          <p:nvPr userDrawn="1"/>
        </p:nvSpPr>
        <p:spPr bwMode="gray">
          <a:xfrm>
            <a:off x="5133000" y="1484313"/>
            <a:ext cx="4356000" cy="4824413"/>
          </a:xfrm>
          <a:prstGeom prst="rect">
            <a:avLst/>
          </a:prstGeom>
          <a:noFill/>
          <a:ln w="12700">
            <a:solidFill>
              <a:srgbClr val="C8CD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endParaRPr lang="ja-JP" altLang="en-US" dirty="0">
              <a:solidFill>
                <a:schemeClr val="tx1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489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コンテンツ全面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810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6999" y="1476000"/>
            <a:ext cx="907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Font typeface="Arial" pitchFamily="34" charset="0"/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indent="-1440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543A0986-838B-4D2A-A95C-8CB1738263F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フッター プレースホルダ 9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8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83826657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白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985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3F3504-9539-4146-B3C1-F25407A51609}"/>
              </a:ext>
            </a:extLst>
          </p:cNvPr>
          <p:cNvSpPr txBox="1"/>
          <p:nvPr userDrawn="1"/>
        </p:nvSpPr>
        <p:spPr bwMode="gray">
          <a:xfrm>
            <a:off x="8041197" y="6517421"/>
            <a:ext cx="140262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950"/>
              </a:lnSpc>
            </a:pPr>
            <a:r>
              <a:rPr kumimoji="1" lang="en-US" altLang="ja-JP" sz="800" dirty="0"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 dirty="0">
                <a:latin typeface="+mn-lt"/>
                <a:cs typeface="+mn-cs"/>
                <a:sym typeface="+mn-lt"/>
              </a:rPr>
            </a:br>
            <a:r>
              <a:rPr kumimoji="1" lang="en-US" altLang="ja-JP" sz="800" b="1" dirty="0"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 dirty="0">
              <a:latin typeface="+mn-lt"/>
              <a:cs typeface="+mn-cs"/>
              <a:sym typeface="+mn-lt"/>
            </a:endParaRP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D4831B1-A04A-42C3-BD52-942B25744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17600" y="6336000"/>
            <a:ext cx="7020000" cy="127856"/>
          </a:xfrm>
        </p:spPr>
        <p:txBody>
          <a:bodyPr anchor="b" anchorCtr="0">
            <a:spAutoFit/>
          </a:bodyPr>
          <a:lstStyle>
            <a:lvl1pPr>
              <a:defRPr sz="800"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7F14F7E8-2C42-4BD2-8B4C-7C658763AB7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600" y="432000"/>
            <a:ext cx="1872000" cy="587972"/>
          </a:xfrm>
          <a:prstGeom prst="rect">
            <a:avLst/>
          </a:prstGeom>
        </p:spPr>
      </p:pic>
      <p:sp>
        <p:nvSpPr>
          <p:cNvPr id="8" name="Text Box 37">
            <a:extLst>
              <a:ext uri="{FF2B5EF4-FFF2-40B4-BE49-F238E27FC236}">
                <a16:creationId xmlns:a16="http://schemas.microsoft.com/office/drawing/2014/main" id="{D6BA3D81-CAD1-43DC-A531-54F7C4DC8DF8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176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pic>
        <p:nvPicPr>
          <p:cNvPr id="4" name="図 3" descr="ロゴ, 会社名&#10;&#10;自動的に生成された説明">
            <a:extLst>
              <a:ext uri="{FF2B5EF4-FFF2-40B4-BE49-F238E27FC236}">
                <a16:creationId xmlns:a16="http://schemas.microsoft.com/office/drawing/2014/main" id="{784D5B73-DF9C-49AC-94A2-96EF6F33C2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gray">
          <a:xfrm>
            <a:off x="8050925" y="5472502"/>
            <a:ext cx="1440000" cy="8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30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黒_A4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2340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3F3504-9539-4146-B3C1-F25407A51609}"/>
              </a:ext>
            </a:extLst>
          </p:cNvPr>
          <p:cNvSpPr txBox="1"/>
          <p:nvPr userDrawn="1"/>
        </p:nvSpPr>
        <p:spPr bwMode="gray">
          <a:xfrm>
            <a:off x="8041197" y="6517421"/>
            <a:ext cx="140262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950"/>
              </a:lnSpc>
            </a:pPr>
            <a:r>
              <a:rPr kumimoji="1" lang="en-US" altLang="ja-JP" sz="800" dirty="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 dirty="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 dirty="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 dirty="0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11" name="テキスト プレースホルダー 13">
            <a:extLst>
              <a:ext uri="{FF2B5EF4-FFF2-40B4-BE49-F238E27FC236}">
                <a16:creationId xmlns:a16="http://schemas.microsoft.com/office/drawing/2014/main" id="{EC10764A-D9E5-4773-9998-E6E340EF20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17600" y="6336000"/>
            <a:ext cx="7020000" cy="127856"/>
          </a:xfrm>
        </p:spPr>
        <p:txBody>
          <a:bodyPr anchor="b" anchorCtr="0">
            <a:spAutoFit/>
          </a:bodyPr>
          <a:lstStyle>
            <a:lvl1pPr>
              <a:defRPr sz="800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8C8D089-6B7B-4D22-A423-606FF0A072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601" y="432000"/>
            <a:ext cx="1870453" cy="586800"/>
          </a:xfrm>
          <a:prstGeom prst="rect">
            <a:avLst/>
          </a:prstGeom>
        </p:spPr>
      </p:pic>
      <p:sp>
        <p:nvSpPr>
          <p:cNvPr id="8" name="Text Box 37">
            <a:extLst>
              <a:ext uri="{FF2B5EF4-FFF2-40B4-BE49-F238E27FC236}">
                <a16:creationId xmlns:a16="http://schemas.microsoft.com/office/drawing/2014/main" id="{8ECAF025-B44C-4744-8C34-DBC751A55D36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176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pic>
        <p:nvPicPr>
          <p:cNvPr id="6" name="図 5" descr="ロゴ, 会社名&#10;&#10;自動的に生成された説明">
            <a:extLst>
              <a:ext uri="{FF2B5EF4-FFF2-40B4-BE49-F238E27FC236}">
                <a16:creationId xmlns:a16="http://schemas.microsoft.com/office/drawing/2014/main" id="{EA662424-EC38-41B4-918D-98953BBCEA8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gray">
          <a:xfrm>
            <a:off x="8050925" y="5472497"/>
            <a:ext cx="1440000" cy="8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5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白_トーマツロゴ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58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3F3504-9539-4146-B3C1-F25407A51609}"/>
              </a:ext>
            </a:extLst>
          </p:cNvPr>
          <p:cNvSpPr txBox="1"/>
          <p:nvPr userDrawn="1"/>
        </p:nvSpPr>
        <p:spPr bwMode="gray">
          <a:xfrm>
            <a:off x="8041197" y="6517421"/>
            <a:ext cx="140262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950"/>
              </a:lnSpc>
            </a:pPr>
            <a:r>
              <a:rPr kumimoji="1" lang="en-US" altLang="ja-JP" sz="800" dirty="0"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 dirty="0">
                <a:latin typeface="+mn-lt"/>
                <a:cs typeface="+mn-cs"/>
                <a:sym typeface="+mn-lt"/>
              </a:rPr>
            </a:br>
            <a:r>
              <a:rPr kumimoji="1" lang="en-US" altLang="ja-JP" sz="800" b="1" dirty="0"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 dirty="0">
              <a:latin typeface="+mn-lt"/>
              <a:cs typeface="+mn-cs"/>
              <a:sym typeface="+mn-lt"/>
            </a:endParaRPr>
          </a:p>
        </p:txBody>
      </p:sp>
      <p:sp>
        <p:nvSpPr>
          <p:cNvPr id="10" name="テキスト プレースホルダー 13">
            <a:extLst>
              <a:ext uri="{FF2B5EF4-FFF2-40B4-BE49-F238E27FC236}">
                <a16:creationId xmlns:a16="http://schemas.microsoft.com/office/drawing/2014/main" id="{8D7302B4-C3B2-43C1-A9E9-2DFB590FF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17600" y="6336000"/>
            <a:ext cx="7020000" cy="127856"/>
          </a:xfrm>
        </p:spPr>
        <p:txBody>
          <a:bodyPr anchor="b" anchorCtr="0">
            <a:spAutoFit/>
          </a:bodyPr>
          <a:lstStyle>
            <a:lvl1pPr>
              <a:defRPr sz="800"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81D215A-DF31-4FC4-A706-4B6A3613D0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16496" y="431005"/>
            <a:ext cx="3447786" cy="5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37">
            <a:extLst>
              <a:ext uri="{FF2B5EF4-FFF2-40B4-BE49-F238E27FC236}">
                <a16:creationId xmlns:a16="http://schemas.microsoft.com/office/drawing/2014/main" id="{5FB43949-A16F-4CF9-89FA-2868A80FA4F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176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pic>
        <p:nvPicPr>
          <p:cNvPr id="12" name="図 11" descr="ロゴ, 会社名&#10;&#10;自動的に生成された説明">
            <a:extLst>
              <a:ext uri="{FF2B5EF4-FFF2-40B4-BE49-F238E27FC236}">
                <a16:creationId xmlns:a16="http://schemas.microsoft.com/office/drawing/2014/main" id="{4770B572-0E41-4F38-9C69-20D76FA470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gray">
          <a:xfrm>
            <a:off x="8050925" y="5472502"/>
            <a:ext cx="1440000" cy="8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6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黒_トーマツロゴ_A4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9900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3F3504-9539-4146-B3C1-F25407A51609}"/>
              </a:ext>
            </a:extLst>
          </p:cNvPr>
          <p:cNvSpPr txBox="1"/>
          <p:nvPr userDrawn="1"/>
        </p:nvSpPr>
        <p:spPr bwMode="gray">
          <a:xfrm>
            <a:off x="8041197" y="6517421"/>
            <a:ext cx="140262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950"/>
              </a:lnSpc>
            </a:pPr>
            <a:r>
              <a:rPr kumimoji="1" lang="en-US" altLang="ja-JP" sz="800" dirty="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 dirty="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 dirty="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 dirty="0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10" name="テキスト プレースホルダー 13">
            <a:extLst>
              <a:ext uri="{FF2B5EF4-FFF2-40B4-BE49-F238E27FC236}">
                <a16:creationId xmlns:a16="http://schemas.microsoft.com/office/drawing/2014/main" id="{98ED7F2A-D8F8-44B8-9950-656D3B6AC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17600" y="6336000"/>
            <a:ext cx="7020000" cy="127856"/>
          </a:xfrm>
        </p:spPr>
        <p:txBody>
          <a:bodyPr anchor="b" anchorCtr="0">
            <a:spAutoFit/>
          </a:bodyPr>
          <a:lstStyle>
            <a:lvl1pPr>
              <a:defRPr sz="800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6211CF3-AF55-4BB2-ABA6-DFDFA3C51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gray">
          <a:xfrm>
            <a:off x="417600" y="432000"/>
            <a:ext cx="3449948" cy="586076"/>
          </a:xfrm>
          <a:prstGeom prst="rect">
            <a:avLst/>
          </a:prstGeom>
        </p:spPr>
      </p:pic>
      <p:sp>
        <p:nvSpPr>
          <p:cNvPr id="9" name="Text Box 37">
            <a:extLst>
              <a:ext uri="{FF2B5EF4-FFF2-40B4-BE49-F238E27FC236}">
                <a16:creationId xmlns:a16="http://schemas.microsoft.com/office/drawing/2014/main" id="{97296455-89ED-4F08-B776-BE18D4C8DF8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176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pic>
        <p:nvPicPr>
          <p:cNvPr id="12" name="図 11" descr="ロゴ, 会社名&#10;&#10;自動的に生成された説明">
            <a:extLst>
              <a:ext uri="{FF2B5EF4-FFF2-40B4-BE49-F238E27FC236}">
                <a16:creationId xmlns:a16="http://schemas.microsoft.com/office/drawing/2014/main" id="{D2BBA463-2249-4A4A-80B9-2AD3548196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gray">
          <a:xfrm>
            <a:off x="8050925" y="5472497"/>
            <a:ext cx="1440000" cy="8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78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補足版） タイトルのみ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0040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05600" y="6588000"/>
            <a:ext cx="4068000" cy="169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テキスト プレースホルダ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17000" y="1009580"/>
            <a:ext cx="9072000" cy="4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ja-JP" altLang="en-US" dirty="0"/>
              <a:t>補足文を入力（キーメッセージを補足する内容＜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行以内＞）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000" y="1476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6521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補足版） コンテンツ左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2552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スライド番号プレースホルダ 5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E01102E1-88D9-4790-8615-AC810340BF5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 bwMode="gray">
          <a:xfrm>
            <a:off x="705600" y="6588000"/>
            <a:ext cx="4068000" cy="169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10" name="テキスト プレースホルダ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17600" y="1009580"/>
            <a:ext cx="90720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ja-JP" altLang="en-US" sz="1400" baseline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kumimoji="1" lang="ja-JP" altLang="en-US" dirty="0"/>
              <a:t>補足文を入力（キーメッセージを補足する内容＜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行以内＞）</a:t>
            </a:r>
            <a:endParaRPr kumimoji="1" lang="en-US" altLang="ja-JP" dirty="0"/>
          </a:p>
          <a:p>
            <a:pPr lvl="0">
              <a:spcBef>
                <a:spcPts val="0"/>
              </a:spcBef>
            </a:pPr>
            <a:endParaRPr kumimoji="1" lang="ja-JP" altLang="en-US" dirty="0"/>
          </a:p>
        </p:txBody>
      </p:sp>
      <p:sp>
        <p:nvSpPr>
          <p:cNvPr id="11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7600" y="1944000"/>
            <a:ext cx="4356000" cy="4356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1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600" y="1476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74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補足版） コンテンツ両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428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スライド番号プレースホルダ 9"/>
          <p:cNvSpPr>
            <a:spLocks noGrp="1"/>
          </p:cNvSpPr>
          <p:nvPr>
            <p:ph type="sldNum" sz="quarter" idx="13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2917B94E-3120-478C-8085-A9F2B368A1A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14"/>
          </p:nvPr>
        </p:nvSpPr>
        <p:spPr bwMode="gray">
          <a:xfrm>
            <a:off x="705000" y="6588000"/>
            <a:ext cx="4068000" cy="169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12" name="テキスト プレースホルダ 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000" y="1009580"/>
            <a:ext cx="90720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ja-JP" altLang="en-US" sz="1400" baseline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kumimoji="1" lang="ja-JP" altLang="en-US" dirty="0"/>
              <a:t>補足文を入力（キーメッセージを補足する内容＜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行以内＞）</a:t>
            </a:r>
            <a:endParaRPr kumimoji="1" lang="en-US" altLang="ja-JP" dirty="0"/>
          </a:p>
          <a:p>
            <a:pPr lvl="0">
              <a:spcBef>
                <a:spcPts val="0"/>
              </a:spcBef>
            </a:pPr>
            <a:endParaRPr kumimoji="1" lang="ja-JP" altLang="en-US" dirty="0"/>
          </a:p>
        </p:txBody>
      </p:sp>
      <p:sp>
        <p:nvSpPr>
          <p:cNvPr id="13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7000" y="1944000"/>
            <a:ext cx="4356000" cy="4356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1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4" name="コンテンツ プレースホルダ 2"/>
          <p:cNvSpPr>
            <a:spLocks noGrp="1"/>
          </p:cNvSpPr>
          <p:nvPr>
            <p:ph idx="17"/>
          </p:nvPr>
        </p:nvSpPr>
        <p:spPr bwMode="gray">
          <a:xfrm>
            <a:off x="5132388" y="1944000"/>
            <a:ext cx="4356000" cy="4356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1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17000" y="1476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18" name="テキスト プレースホルダー 2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32388" y="1476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875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補足版） コンテンツ全面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63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スライド番号プレースホルダ 8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4D9FACC8-259C-46ED-9283-8CCF027B382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フッター プレースホルダ 9"/>
          <p:cNvSpPr>
            <a:spLocks noGrp="1"/>
          </p:cNvSpPr>
          <p:nvPr>
            <p:ph type="ftr" sz="quarter" idx="11"/>
          </p:nvPr>
        </p:nvSpPr>
        <p:spPr bwMode="gray">
          <a:xfrm>
            <a:off x="705600" y="6588000"/>
            <a:ext cx="4068000" cy="169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8" name="テキスト プレースホルダ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17000" y="1009580"/>
            <a:ext cx="90720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ja-JP" altLang="en-US" sz="1400" baseline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kumimoji="1" lang="ja-JP" altLang="en-US" dirty="0"/>
              <a:t>補足文を入力（キーメッセージを補足する内容＜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行以内＞）</a:t>
            </a:r>
            <a:endParaRPr kumimoji="1" lang="en-US" altLang="ja-JP" dirty="0"/>
          </a:p>
          <a:p>
            <a:pPr lvl="0">
              <a:spcBef>
                <a:spcPts val="0"/>
              </a:spcBef>
            </a:pPr>
            <a:endParaRPr kumimoji="1" lang="ja-JP" altLang="en-US" dirty="0"/>
          </a:p>
        </p:txBody>
      </p:sp>
      <p:sp>
        <p:nvSpPr>
          <p:cNvPr id="11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7599" y="1944000"/>
            <a:ext cx="9072000" cy="4356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baseline="0">
                <a:latin typeface="+mn-lt"/>
                <a:ea typeface="+mn-ea"/>
                <a:cs typeface="+mn-cs"/>
                <a:sym typeface="+mn-lt"/>
              </a:defRPr>
            </a:lvl4pPr>
            <a:lvl5pPr marL="504000" indent="0">
              <a:buNone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1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  <a:endParaRPr lang="en-US" altLang="ja-JP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600" y="1476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48587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2.xml"/><Relationship Id="rId20" Type="http://schemas.openxmlformats.org/officeDocument/2006/relationships/oleObject" Target="../embeddings/oleObject1.bin"/><Relationship Id="rId21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theme" Target="../theme/theme2.xml"/><Relationship Id="rId6" Type="http://schemas.openxmlformats.org/officeDocument/2006/relationships/tags" Target="../tags/tag20.xml"/><Relationship Id="rId7" Type="http://schemas.openxmlformats.org/officeDocument/2006/relationships/oleObject" Target="../embeddings/oleObject18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435923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20" imgW="563" imgH="564" progId="TCLayout.ActiveDocument.1">
                  <p:embed/>
                </p:oleObj>
              </mc:Choice>
              <mc:Fallback>
                <p:oleObj name="think-cell スライド" r:id="rId20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17000" y="180000"/>
            <a:ext cx="9072000" cy="615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lang="en-US" noProof="0" dirty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05600" y="6588000"/>
            <a:ext cx="4068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A4</a:t>
            </a:r>
            <a:endParaRPr kumimoji="1" lang="en-GB" altLang="en-GB" dirty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176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 dirty="0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51330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16999" y="1476000"/>
            <a:ext cx="9073075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1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C0FFE5-9BDB-4F97-92E4-5E9243BDA74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4508167" y="6444000"/>
            <a:ext cx="889667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A8290"/>
                </a:solidFill>
                <a:latin typeface="+mn-lt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51" r:id="rId3"/>
    <p:sldLayoutId id="2147483952" r:id="rId4"/>
    <p:sldLayoutId id="2147483911" r:id="rId5"/>
    <p:sldLayoutId id="2147483912" r:id="rId6"/>
    <p:sldLayoutId id="2147483934" r:id="rId7"/>
    <p:sldLayoutId id="2147483936" r:id="rId8"/>
    <p:sldLayoutId id="2147483953" r:id="rId9"/>
    <p:sldLayoutId id="2147483937" r:id="rId10"/>
    <p:sldLayoutId id="2147483938" r:id="rId11"/>
    <p:sldLayoutId id="2147483959" r:id="rId12"/>
    <p:sldLayoutId id="2147483939" r:id="rId13"/>
    <p:sldLayoutId id="2147483954" r:id="rId14"/>
    <p:sldLayoutId id="2147483955" r:id="rId15"/>
    <p:sldLayoutId id="2147483956" r:id="rId16"/>
    <p:sldLayoutId id="2147483957" r:id="rId17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000" b="1" kern="1200" baseline="0">
          <a:solidFill>
            <a:schemeClr val="tx1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200" b="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80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60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04000" marR="0" indent="-144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200" b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84000" indent="-180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864000" indent="-180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120">
          <p15:clr>
            <a:srgbClr val="A0A6AE"/>
          </p15:clr>
        </p15:guide>
        <p15:guide id="1" orient="horz" pos="96">
          <p15:clr>
            <a:srgbClr val="A0A6AE"/>
          </p15:clr>
        </p15:guide>
        <p15:guide id="2" pos="3007">
          <p15:clr>
            <a:srgbClr val="A0A6AE"/>
          </p15:clr>
        </p15:guide>
        <p15:guide id="3" pos="3233">
          <p15:clr>
            <a:srgbClr val="A0A6AE"/>
          </p15:clr>
        </p15:guide>
        <p15:guide id="4" pos="5978">
          <p15:clr>
            <a:srgbClr val="A0A6AE"/>
          </p15:clr>
        </p15:guide>
        <p15:guide id="5" pos="262">
          <p15:clr>
            <a:srgbClr val="A0A6AE"/>
          </p15:clr>
        </p15:guide>
        <p15:guide id="6" orient="horz" pos="504">
          <p15:clr>
            <a:srgbClr val="A0A6AE"/>
          </p15:clr>
        </p15:guide>
        <p15:guide id="7" orient="horz" pos="640">
          <p15:clr>
            <a:srgbClr val="A0A6AE"/>
          </p15:clr>
        </p15:guide>
        <p15:guide id="8" orient="horz" pos="935">
          <p15:clr>
            <a:srgbClr val="A0A6AE"/>
          </p15:clr>
        </p15:guide>
        <p15:guide id="9" orient="horz" pos="3974">
          <p15:clr>
            <a:srgbClr val="A0A6AE"/>
          </p15:clr>
        </p15:guide>
        <p15:guide id="10" orient="horz" pos="4156">
          <p15:clr>
            <a:srgbClr val="A0A6AE"/>
          </p15:clr>
        </p15:guide>
        <p15:guide id="11" orient="horz" pos="4269">
          <p15:clr>
            <a:srgbClr val="A0A6A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688600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7" imgW="563" imgH="564" progId="TCLayout.ActiveDocument.1">
                  <p:embed/>
                </p:oleObj>
              </mc:Choice>
              <mc:Fallback>
                <p:oleObj name="think-cell スライド" r:id="rId7" imgW="563" imgH="5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17000" y="180000"/>
            <a:ext cx="9072000" cy="615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lang="en-US" noProof="0" dirty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05600" y="6588000"/>
            <a:ext cx="4068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A4</a:t>
            </a:r>
            <a:endParaRPr kumimoji="1" lang="en-GB" altLang="en-GB" dirty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176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 dirty="0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51330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17600" y="1476000"/>
            <a:ext cx="907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1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1" r:id="rId2"/>
    <p:sldLayoutId id="2147483949" r:id="rId3"/>
    <p:sldLayoutId id="2147483950" r:id="rId4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000" b="1" kern="1200">
          <a:solidFill>
            <a:schemeClr val="tx1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200" b="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80000" indent="-180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60000" indent="-180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04000" indent="-144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200" b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84000" indent="-180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864000" indent="-180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A0A6AE"/>
          </p15:clr>
        </p15:guide>
        <p15:guide id="2" orient="horz" pos="96">
          <p15:clr>
            <a:srgbClr val="A0A6AE"/>
          </p15:clr>
        </p15:guide>
        <p15:guide id="3" pos="3007">
          <p15:clr>
            <a:srgbClr val="A0A6AE"/>
          </p15:clr>
        </p15:guide>
        <p15:guide id="4" pos="3233">
          <p15:clr>
            <a:srgbClr val="A0A6AE"/>
          </p15:clr>
        </p15:guide>
        <p15:guide id="5" pos="5978">
          <p15:clr>
            <a:srgbClr val="A0A6AE"/>
          </p15:clr>
        </p15:guide>
        <p15:guide id="6" pos="262">
          <p15:clr>
            <a:srgbClr val="A0A6AE"/>
          </p15:clr>
        </p15:guide>
        <p15:guide id="7" orient="horz" pos="504">
          <p15:clr>
            <a:srgbClr val="A0A6AE"/>
          </p15:clr>
        </p15:guide>
        <p15:guide id="8" orient="horz" pos="640">
          <p15:clr>
            <a:srgbClr val="A0A6AE"/>
          </p15:clr>
        </p15:guide>
        <p15:guide id="9" orient="horz" pos="935">
          <p15:clr>
            <a:srgbClr val="A0A6AE"/>
          </p15:clr>
        </p15:guide>
        <p15:guide id="10" orient="horz" pos="3974">
          <p15:clr>
            <a:srgbClr val="A0A6AE"/>
          </p15:clr>
        </p15:guide>
        <p15:guide id="11" orient="horz" pos="4156">
          <p15:clr>
            <a:srgbClr val="A0A6AE"/>
          </p15:clr>
        </p15:guide>
        <p15:guide id="12" orient="horz" pos="4269">
          <p15:clr>
            <a:srgbClr val="A0A6AE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400" b="1"/>
              <a:t>現地民が語る、もう一段深い旅。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/>
              <a:t>駐在員が書く、信頼できる旅行誌。</a:t>
            </a:r>
          </a:p>
          <a:p>
            <a:r>
              <a:rPr sz="1800"/>
              <a:t>Locore は最初の書き手 50 人を募集します。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200" b="1"/>
              <a:t>Chapter 00</a:t>
            </a:r>
          </a:p>
          <a:p>
            <a:r>
              <a:rPr sz="3200" b="1"/>
              <a:t>ローカル × 語り部 × コア。</a:t>
            </a:r>
          </a:p>
          <a:p>
            <a:r>
              <a:rPr sz="3200" b="1"/>
              <a:t/>
            </a:r>
          </a:p>
          <a:p>
            <a:r>
              <a:rPr sz="3200" b="1"/>
              <a:t>その街の輪郭を、住人の言葉で。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200" b="1"/>
              <a:t>Chapter 01</a:t>
            </a:r>
          </a:p>
          <a:p>
            <a:r>
              <a:rPr sz="3200" b="1"/>
              <a:t>なぜ Locore を作るのか</a:t>
            </a:r>
          </a:p>
          <a:p>
            <a:r>
              <a:rPr sz="3200" b="1"/>
              <a:t/>
            </a:r>
          </a:p>
          <a:p>
            <a:r>
              <a:rPr sz="3200" b="1"/>
              <a:t>既存の旅行情報の課題と、駐在員の眠っている知見について。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ガイドブックも、SNS も、検索結果も、似たような観光地の似たような写真ばかりが並ぶ。</a:t>
            </a:r>
          </a:p>
          <a:p>
            <a:r>
              <a:rPr sz="1400"/>
              <a:t>AI で 5 分で出てくる情報を、わざわざお金を払って読む人はいない。</a:t>
            </a:r>
          </a:p>
          <a:p>
            <a:r>
              <a:rPr sz="1400"/>
              <a:t/>
            </a:r>
          </a:p>
          <a:p>
            <a:r>
              <a:rPr sz="1400"/>
              <a:t>既存メディアは広告依存で匿名性が高く、誰がどんな立場で書いた情報なのかが見えづらい。</a:t>
            </a:r>
          </a:p>
          <a:p>
            <a:r>
              <a:rPr sz="1400"/>
              <a:t>結果、混雑する場所に観光客が集中し、本当に良い場所は埋もれていく。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課題 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旅行情報は、もう同じ顔ばかり。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海外に住む日本人は、現地にしかない知識を毎日蓄積している。</a:t>
            </a:r>
          </a:p>
          <a:p>
            <a:r>
              <a:rPr sz="1400"/>
              <a:t>でも Instagram のストーリーは 24 時間で消え、ブログは技術的負担が大きく、</a:t>
            </a:r>
          </a:p>
          <a:p>
            <a:r>
              <a:rPr sz="1400"/>
              <a:t>YouTube は収益の不確実性が高い。</a:t>
            </a:r>
          </a:p>
          <a:p>
            <a:r>
              <a:rPr sz="1400"/>
              <a:t/>
            </a:r>
          </a:p>
          <a:p>
            <a:r>
              <a:rPr sz="1400"/>
              <a:t>結果、価値ある情報が「個人の善意」だけに支えられて流れていく。</a:t>
            </a:r>
          </a:p>
          <a:p>
            <a:r>
              <a:rPr sz="1400"/>
              <a:t>発信者には対価が回らず、読み手は信頼できる情報源にたどり着けない。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課題 ②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駐在員の知見が、SNS に流れて消えていく。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200" b="1"/>
              <a:t>Chapter 02</a:t>
            </a:r>
          </a:p>
          <a:p>
            <a:r>
              <a:rPr sz="3200" b="1"/>
              <a:t>Locore の解決策</a:t>
            </a:r>
          </a:p>
          <a:p>
            <a:r>
              <a:rPr sz="3200" b="1"/>
              <a:t/>
            </a:r>
          </a:p>
          <a:p>
            <a:r>
              <a:rPr sz="3200" b="1"/>
              <a:t>一次情報・モデルコース・ローカルスコアの 3 つで、画一化を超える。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/>
              <a:t>01.  一次情報・自撮しか載せない</a:t>
            </a:r>
          </a:p>
          <a:p>
            <a:r>
              <a:rPr sz="1300"/>
              <a:t>      投稿者本人が現地で撮った写真、現地で体験した内容のみ。AI 生成画像と、検索で出てくる一般情報は掲載対象外。</a:t>
            </a:r>
          </a:p>
          <a:p>
            <a:r>
              <a:rPr sz="1300"/>
              <a:t/>
            </a:r>
          </a:p>
          <a:p>
            <a:r>
              <a:rPr sz="1300"/>
              <a:t>02.  スポット単発ではなくモデルコース</a:t>
            </a:r>
          </a:p>
          <a:p>
            <a:r>
              <a:rPr sz="1300"/>
              <a:t>      時間帯・混雑・移動難易度まで含めた「実際に辿れるルート」を提示。旅行者の調査負担と不安を減らす。</a:t>
            </a:r>
          </a:p>
          <a:p>
            <a:r>
              <a:rPr sz="1300"/>
              <a:t/>
            </a:r>
          </a:p>
          <a:p>
            <a:r>
              <a:rPr sz="1300"/>
              <a:t>03.  ローカルスコアで選別</a:t>
            </a:r>
          </a:p>
          <a:p>
            <a:r>
              <a:rPr sz="1300"/>
              <a:t>      記事はローカル度を採点。観光地の単純紹介は低評価・修正対象。住人だけが知る場所が上位に来る設計。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3 つの設計原則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Locore は、これだけはやらない。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すべての記事は「どれだけローカルか」のスコアで評価される。</a:t>
            </a:r>
          </a:p>
          <a:p>
            <a:r>
              <a:rPr sz="1400"/>
              <a:t>Google マップでレビュー数が多い観光地は低評価、住人だけが知る場所や時間帯は高評価。</a:t>
            </a:r>
          </a:p>
          <a:p>
            <a:r>
              <a:rPr sz="1400"/>
              <a:t/>
            </a:r>
          </a:p>
          <a:p>
            <a:r>
              <a:rPr sz="1400"/>
              <a:t>観光地の「裏技」(混まない時間帯、地元の楽しみ方) は許容するが、単なる紹介は修正対象。</a:t>
            </a:r>
          </a:p>
          <a:p>
            <a:r>
              <a:rPr sz="1400"/>
              <a:t>理念に共感した書き手だけが残る仕組み。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ローカルスコア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ローカル性が高いほど、上位に。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/>
              <a:t>既存の旅行メディア（広告依存・匿名・一律）</a:t>
            </a:r>
          </a:p>
          <a:p>
            <a:r>
              <a:rPr sz="1300"/>
              <a:t/>
            </a:r>
          </a:p>
          <a:p>
            <a:r>
              <a:rPr sz="1300"/>
              <a:t>・ 匿名アカウント中心で誰が書いたか不明</a:t>
            </a:r>
          </a:p>
          <a:p>
            <a:r>
              <a:rPr sz="1300"/>
              <a:t>・ PR と本物が区別できない</a:t>
            </a:r>
          </a:p>
          <a:p>
            <a:r>
              <a:rPr sz="1300"/>
              <a:t>・ "映え" 優先で実用性が薄い</a:t>
            </a:r>
          </a:p>
          <a:p>
            <a:r>
              <a:rPr sz="1300"/>
              <a:t>・ 広告がコンテンツに混入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/>
          </p:nvPr>
        </p:nvSpPr>
        <p:spPr/>
        <p:txBody>
          <a:bodyPr wrap="square"/>
          <a:lstStyle/>
          <a:p>
            <a:r>
              <a:rPr sz="1300"/>
              <a:t>Locore（居住確認済みの書き手だけ）</a:t>
            </a:r>
          </a:p>
          <a:p>
            <a:r>
              <a:rPr sz="1300"/>
              <a:t/>
            </a:r>
          </a:p>
          <a:p>
            <a:r>
              <a:rPr sz="1300"/>
              <a:t>・ 対象都市に 1 年以上住む書き手のみ</a:t>
            </a:r>
          </a:p>
          <a:p>
            <a:r>
              <a:rPr sz="1300"/>
              <a:t>・ 編集チームが事実確認</a:t>
            </a:r>
          </a:p>
          <a:p>
            <a:r>
              <a:rPr sz="1300"/>
              <a:t>・ 広告なし。読者課金で運営</a:t>
            </a:r>
          </a:p>
          <a:p>
            <a:r>
              <a:rPr sz="1300"/>
              <a:t>・ 一次情報・自撮・モデルコース重視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何が違うのか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既存メディアとの違い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/>
              <a:t>01.  観光地を避けたい旅行者</a:t>
            </a:r>
          </a:p>
          <a:p>
            <a:r>
              <a:rPr sz="1300"/>
              <a:t>      混雑する有名観光地ではなく、ローカルが普通に通う場所を求める層。年に 1〜2 回の海外旅行で、調査に時間をかけたくない人。</a:t>
            </a:r>
          </a:p>
          <a:p>
            <a:r>
              <a:rPr sz="1300"/>
              <a:t/>
            </a:r>
          </a:p>
          <a:p>
            <a:r>
              <a:rPr sz="1300"/>
              <a:t>02.  海外を志向する若手</a:t>
            </a:r>
          </a:p>
          <a:p>
            <a:r>
              <a:rPr sz="1300"/>
              <a:t>      留学・駐在・ワーホリを検討中の人。SNS では聞きづらい本音の話を、近い境遇の書き手から直接聞きたい層。</a:t>
            </a:r>
          </a:p>
          <a:p>
            <a:r>
              <a:rPr sz="1300"/>
              <a:t/>
            </a:r>
          </a:p>
          <a:p>
            <a:r>
              <a:rPr sz="1300"/>
              <a:t>03.  現地在住の駐在員・留学生</a:t>
            </a:r>
          </a:p>
          <a:p>
            <a:r>
              <a:rPr sz="1300"/>
              <a:t>      日々の発信を価値化したい人。技術的負担なく書け、執筆と提供サービスの両方で収益機会を得たい層。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Market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3 つの読者層に届ける。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200" b="1"/>
              <a:t>Chapter 03</a:t>
            </a:r>
          </a:p>
          <a:p>
            <a:r>
              <a:rPr sz="3200" b="1"/>
              <a:t>ビジネスモデル</a:t>
            </a:r>
          </a:p>
          <a:p>
            <a:r>
              <a:rPr sz="3200" b="1"/>
              <a:t/>
            </a:r>
          </a:p>
          <a:p>
            <a:r>
              <a:rPr sz="3200" b="1"/>
              <a:t>広告に依存せず、読者と書き手の信頼で成り立つ仕組み。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/>
              <a:t>01.  記事の決済手数料</a:t>
            </a:r>
          </a:p>
          <a:p>
            <a:r>
              <a:rPr sz="1300"/>
              <a:t>      1 本 ¥600〜¥1,500 の有料記事。決済手数料の一部を運営費・編集チームの人件費に充当。</a:t>
            </a:r>
          </a:p>
          <a:p>
            <a:r>
              <a:rPr sz="1300"/>
              <a:t/>
            </a:r>
          </a:p>
          <a:p>
            <a:r>
              <a:rPr sz="1300"/>
              <a:t>02.  サブスクリプション</a:t>
            </a:r>
          </a:p>
          <a:p>
            <a:r>
              <a:rPr sz="1300"/>
              <a:t>      月額会員向けの限定記事・先行公開・特集アクセス。コア読者からの安定収益を作る。</a:t>
            </a:r>
          </a:p>
          <a:p>
            <a:r>
              <a:rPr sz="1300"/>
              <a:t/>
            </a:r>
          </a:p>
          <a:p>
            <a:r>
              <a:rPr sz="1300"/>
              <a:t>03.  ユーザー提供サービス（無手数料）</a:t>
            </a:r>
          </a:p>
          <a:p>
            <a:r>
              <a:rPr sz="1300"/>
              <a:t>      駐在員が個別に提供する相談・ガイド・撮影アテンドなど。プラットフォーム手数料は取らず、書き手のビジネス機会を最大化。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3 つの収益源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広告は載せない。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200" b="1"/>
              <a:t>Chapter 04</a:t>
            </a:r>
          </a:p>
          <a:p>
            <a:r>
              <a:rPr sz="3200" b="1"/>
              <a:t>Founders 50</a:t>
            </a:r>
          </a:p>
          <a:p>
            <a:r>
              <a:rPr sz="3200" b="1"/>
              <a:t/>
            </a:r>
          </a:p>
          <a:p>
            <a:r>
              <a:rPr sz="3200" b="1"/>
              <a:t>最初の 50 人を、長く覚えていたい。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Founders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7200" b="1"/>
              <a:t>50 人</a:t>
            </a:r>
          </a:p>
          <a:p>
            <a:r>
              <a:rPr sz="7200" b="1"/>
              <a:t/>
            </a:r>
          </a:p>
          <a:p>
            <a:r>
              <a:rPr sz="7200" b="1"/>
              <a:t>先着 50 人、限定で。</a:t>
            </a:r>
          </a:p>
          <a:p>
            <a:r>
              <a:rPr sz="7200" b="1"/>
              <a:t/>
            </a:r>
          </a:p>
          <a:p>
            <a:r>
              <a:rPr sz="7200" b="1"/>
              <a:t>認証バッジ、優遇手数料、方針への発言権。すべて帰任後も続く恒久的な特典。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/>
              <a:t>01.  認証バッジ</a:t>
            </a:r>
          </a:p>
          <a:p>
            <a:r>
              <a:rPr sz="1300"/>
              <a:t>      名前の横に「Founders」表示。読み手から見て最初に信頼される目印。プロフィールにも常時表示。</a:t>
            </a:r>
          </a:p>
          <a:p>
            <a:r>
              <a:rPr sz="1300"/>
              <a:t/>
            </a:r>
          </a:p>
          <a:p>
            <a:r>
              <a:rPr sz="1300"/>
              <a:t>02.  優遇手数料</a:t>
            </a:r>
          </a:p>
          <a:p>
            <a:r>
              <a:rPr sz="1300"/>
              <a:t>      ライターの取り分が通常 75% のところ、Founders は最終的に 90% に。条件は帰任後も継続。</a:t>
            </a:r>
          </a:p>
          <a:p>
            <a:r>
              <a:rPr sz="1300"/>
              <a:t/>
            </a:r>
          </a:p>
          <a:p>
            <a:r>
              <a:rPr sz="1300"/>
              <a:t>03.  サービス方針への発言権</a:t>
            </a:r>
          </a:p>
          <a:p>
            <a:r>
              <a:rPr sz="1300"/>
              <a:t>      機能追加・コミュニティルール・新都市展開などに、Founders の意見が反映される仕組み。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参加するとどうなるか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3 つの恒久的特典。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対象都市に 1 年以上居住している方。月 5 本以上の執筆コミットメントをお願いしています。</a:t>
            </a:r>
          </a:p>
          <a:p>
            <a:r>
              <a:rPr sz="1400"/>
              <a:t>記事の質はローカルスコアと編集チームの審査を通過する必要があります。</a:t>
            </a:r>
          </a:p>
          <a:p>
            <a:r>
              <a:rPr sz="1400"/>
              <a:t/>
            </a:r>
          </a:p>
          <a:p>
            <a:r>
              <a:rPr sz="1400"/>
              <a:t>初期 (ローンチ前) は 1 本 2,000 円で買い取り、ローンチ後は売上連動に移行。</a:t>
            </a:r>
          </a:p>
          <a:p>
            <a:r>
              <a:rPr sz="1400"/>
              <a:t>観光地の「裏技」は OK ですが、単純な紹介記事は修正対象です。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参加条件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在住 1 年以上、月 5 本、理念への共感。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/>
              <a:t>01.  応募フォームの提出</a:t>
            </a:r>
          </a:p>
          <a:p>
            <a:r>
              <a:rPr sz="1300"/>
              <a:t>      自己紹介、希望都市・テーマ、過去の記事サンプル、SNS リンク、居住証明（公共料金請求書や賃貸契約書）を提出。</a:t>
            </a:r>
          </a:p>
          <a:p>
            <a:r>
              <a:rPr sz="1300"/>
              <a:t/>
            </a:r>
          </a:p>
          <a:p>
            <a:r>
              <a:rPr sz="1300"/>
              <a:t>02.  書類選考</a:t>
            </a:r>
          </a:p>
          <a:p>
            <a:r>
              <a:rPr sz="1300"/>
              <a:t>      理念への共感、現地知見、執筆の継続力を判断。3〜5 営業日でご連絡。</a:t>
            </a:r>
          </a:p>
          <a:p>
            <a:r>
              <a:rPr sz="1300"/>
              <a:t/>
            </a:r>
          </a:p>
          <a:p>
            <a:r>
              <a:rPr sz="1300"/>
              <a:t>03.  Zoom 面談（15〜30 分）</a:t>
            </a:r>
          </a:p>
          <a:p>
            <a:r>
              <a:rPr sz="1300"/>
              <a:t>      編集チームと簡単な対話。書きたいテーマ、Locore に期待することを伺います。</a:t>
            </a:r>
          </a:p>
          <a:p>
            <a:r>
              <a:rPr sz="1300"/>
              <a:t/>
            </a:r>
          </a:p>
          <a:p>
            <a:r>
              <a:rPr sz="1300"/>
              <a:t>04.  結果通知 → 執筆開始</a:t>
            </a:r>
          </a:p>
          <a:p>
            <a:r>
              <a:rPr sz="1300"/>
              <a:t>      採用された方には Founders オンボーディングを案内。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Application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応募の流れ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公開目標は 2026 年 9 月 30 日。Founders 募集は 50 名に到達次第締切。</a:t>
            </a:r>
          </a:p>
          <a:p>
            <a:r>
              <a:rPr sz="1400"/>
              <a:t>初期展開はフランス（パリ・ボルドー等）、その後ヨーロッパ各都市、将来的に日本展開も視野に。</a:t>
            </a:r>
          </a:p>
          <a:p>
            <a:r>
              <a:rPr sz="1400"/>
              <a:t/>
            </a:r>
          </a:p>
          <a:p>
            <a:r>
              <a:rPr sz="1400"/>
              <a:t>運営チームは現在、創業者（チェコ在住・フランス留学経験・コンサル業）と</a:t>
            </a:r>
          </a:p>
          <a:p>
            <a:r>
              <a:rPr sz="1400"/>
              <a:t>エンジニアの 2 名で進行中。各拠点に編集・運営ヘッドを順次採用予定。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1400"/>
              <a:t>Roadmap &amp; Team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/>
              <a:t>2026 年 9 月公開、フランスから。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2800" b="1"/>
              <a:t>あなたの街を、書きませんか。</a:t>
            </a:r>
          </a:p>
          <a:p>
            <a:r>
              <a:rPr sz="2800" b="1"/>
              <a:t/>
            </a:r>
          </a:p>
          <a:p>
            <a:r>
              <a:rPr sz="2800" b="1"/>
              <a:t>応募する</a:t>
            </a:r>
          </a:p>
          <a:p>
            <a:r>
              <a:rPr sz="2800" b="1"/>
              <a:t>locore.app/founders</a:t>
            </a:r>
          </a:p>
          <a:p>
            <a:r>
              <a:rPr sz="2800" b="1"/>
              <a:t/>
            </a:r>
          </a:p>
          <a:p>
            <a:r>
              <a:rPr sz="2800" b="1"/>
              <a:t>先着 50 人で締切。応募 → 書類選考 → Zoom 面談 → 結果通知。
ご質問は hello@locore.app まで。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ocore Template A4 Portrait">
  <a:themeElements>
    <a:clrScheme name="Locore">
      <a:dk1>
        <a:sysClr val="windowText" lastClr="000000"/>
      </a:dk1>
      <a:lt1>
        <a:sysClr val="window" lastClr="FFFFFF"/>
      </a:lt1>
      <a:dk2>
        <a:srgbClr val="1B2330"/>
      </a:dk2>
      <a:lt2>
        <a:srgbClr val="E8D9C2"/>
      </a:lt2>
      <a:accent1>
        <a:srgbClr val="B5453A"/>
      </a:accent1>
      <a:accent2>
        <a:srgbClr val="D26954"/>
      </a:accent2>
      <a:accent3>
        <a:srgbClr val="B5453A"/>
      </a:accent3>
      <a:accent4>
        <a:srgbClr val="7A4A33"/>
      </a:accent4>
      <a:accent5>
        <a:srgbClr val="B58563"/>
      </a:accent5>
      <a:accent6>
        <a:srgbClr val="1B2330"/>
      </a:accent6>
      <a:hlink>
        <a:srgbClr val="B5453A"/>
      </a:hlink>
      <a:folHlink>
        <a:srgbClr val="5C6470"/>
      </a:folHlink>
    </a:clrScheme>
    <a:fontScheme name="Locore">
      <a:majorFont>
        <a:latin typeface="Calibri"/>
        <a:ea typeface="Yu Gothic UI"/>
        <a:cs typeface=""/>
      </a:majorFont>
      <a:minorFont>
        <a:latin typeface="Calibri Light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solidFill>
            <a:schemeClr val="tx2"/>
          </a:solidFill>
        </a:ln>
      </a:spPr>
      <a:bodyPr lIns="72000" tIns="72000" rIns="72000" bIns="72000" rtlCol="0" anchor="ctr"/>
      <a:lstStyle>
        <a:defPPr algn="ctr">
          <a:defRPr kumimoji="1"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2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5C3A2E"/>
    </a:custClr>
    <a:custClr name="Green 6">
      <a:srgbClr val="7A4A33"/>
    </a:custClr>
    <a:custClr name="Green 5">
      <a:srgbClr val="C45444"/>
    </a:custClr>
    <a:custClr name="Green 4">
      <a:srgbClr val="D26954"/>
    </a:custClr>
    <a:custClr name="Deloitte Green">
      <a:srgbClr val="B5453A"/>
    </a:custClr>
    <a:custClr name="Green 2">
      <a:srgbClr val="E58D3B"/>
    </a:custClr>
    <a:custClr name="Green 1">
      <a:srgbClr val="F4D9A8"/>
    </a:custClr>
    <a:custClr name="Teal 7">
      <a:srgbClr val="5C3A2E"/>
    </a:custClr>
    <a:custClr name="Teal 6">
      <a:srgbClr val="7A4A33"/>
    </a:custClr>
    <a:custClr name="Teal 5">
      <a:srgbClr val="B58563"/>
    </a:custClr>
    <a:custClr name="Teal 4">
      <a:srgbClr val="D26954"/>
    </a:custClr>
    <a:custClr name="Teal 3">
      <a:srgbClr val="E8D9C2"/>
    </a:custClr>
    <a:custClr name="Teal 2">
      <a:srgbClr val="F3E9D2"/>
    </a:custClr>
    <a:custClr name="Teal 1">
      <a:srgbClr val="FAF5EB"/>
    </a:custClr>
    <a:custClr name="Blue 7">
      <a:srgbClr val="1B2330"/>
    </a:custClr>
    <a:custClr name="Blue 6">
      <a:srgbClr val="1B2330"/>
    </a:custClr>
    <a:custClr name="Blue 5">
      <a:srgbClr val="2D3540"/>
    </a:custClr>
    <a:custClr name="Blue 4">
      <a:srgbClr val="5C6470"/>
    </a:custClr>
    <a:custClr name="Blue 3">
      <a:srgbClr val="B5453A"/>
    </a:custClr>
    <a:custClr name="Blue 2">
      <a:srgbClr val="D26954"/>
    </a:custClr>
    <a:custClr name="Blue 1">
      <a:srgbClr val="F4D9A8"/>
    </a:custClr>
    <a:custClr name="Cool Gray 11">
      <a:srgbClr val="1B2330"/>
    </a:custClr>
    <a:custClr name="Cool Gray 10">
      <a:srgbClr val="5C6470"/>
    </a:custClr>
    <a:custClr name="Cool Gray 9">
      <a:srgbClr val="7A8290"/>
    </a:custClr>
    <a:custClr name="Cool Gray 7">
      <a:srgbClr val="A0A6AE"/>
    </a:custClr>
    <a:custClr name="Cool Gray 6">
      <a:srgbClr val="B8BDC4"/>
    </a:custClr>
    <a:custClr name="Cool Gray 4">
      <a:srgbClr val="C8CDD2"/>
    </a:custClr>
    <a:custClr name="Cool Gray 2">
      <a:srgbClr val="E8D9C2"/>
    </a:custClr>
    <a:custClr name="White">
      <a:srgbClr val="FFFFFF"/>
    </a:custClr>
    <a:custClr name="Black">
      <a:srgbClr val="000000"/>
    </a:custClr>
    <a:custClr name="Red">
      <a:srgbClr val="B5453A"/>
    </a:custClr>
    <a:custClr name="Orange">
      <a:srgbClr val="B5453A"/>
    </a:custClr>
    <a:custClr name="Yellow">
      <a:srgbClr val="E58D3B"/>
    </a:custClr>
  </a:custClrLst>
  <a:extLst>
    <a:ext uri="{05A4C25C-085E-4340-85A3-A5531E510DB2}">
      <thm15:themeFamily xmlns:thm15="http://schemas.microsoft.com/office/thememl/2012/main" name="DT Template_A4_J.potx" id="{8D78AEF0-12E4-474D-85EB-14BC62C9CFDD}" vid="{DDD527BC-6CC7-443B-8254-938D44097410}"/>
    </a:ext>
  </a:extLst>
</a:theme>
</file>

<file path=ppt/theme/theme2.xml><?xml version="1.0" encoding="utf-8"?>
<a:theme xmlns:a="http://schemas.openxmlformats.org/drawingml/2006/main" name="DT Template_A4_J_202201_補足版">
  <a:themeElements>
    <a:clrScheme name="Locore">
      <a:dk1>
        <a:sysClr val="windowText" lastClr="000000"/>
      </a:dk1>
      <a:lt1>
        <a:sysClr val="window" lastClr="FFFFFF"/>
      </a:lt1>
      <a:dk2>
        <a:srgbClr val="1B2330"/>
      </a:dk2>
      <a:lt2>
        <a:srgbClr val="E8D9C2"/>
      </a:lt2>
      <a:accent1>
        <a:srgbClr val="B5453A"/>
      </a:accent1>
      <a:accent2>
        <a:srgbClr val="D26954"/>
      </a:accent2>
      <a:accent3>
        <a:srgbClr val="B5453A"/>
      </a:accent3>
      <a:accent4>
        <a:srgbClr val="7A4A33"/>
      </a:accent4>
      <a:accent5>
        <a:srgbClr val="B58563"/>
      </a:accent5>
      <a:accent6>
        <a:srgbClr val="1B2330"/>
      </a:accent6>
      <a:hlink>
        <a:srgbClr val="B5453A"/>
      </a:hlink>
      <a:folHlink>
        <a:srgbClr val="5C6470"/>
      </a:folHlink>
    </a:clrScheme>
    <a:fontScheme name="Locore">
      <a:majorFont>
        <a:latin typeface="Calibri"/>
        <a:ea typeface="Yu Gothic UI"/>
        <a:cs typeface=""/>
      </a:majorFont>
      <a:minorFont>
        <a:latin typeface="Calibri Light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C8CDD2"/>
        </a:solidFill>
        <a:ln w="12700" algn="ctr">
          <a:solidFill>
            <a:srgbClr val="C8CDD2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2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2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5C3A2E"/>
    </a:custClr>
    <a:custClr name="Green 6">
      <a:srgbClr val="7A4A33"/>
    </a:custClr>
    <a:custClr name="Green 5">
      <a:srgbClr val="C45444"/>
    </a:custClr>
    <a:custClr name="Green 4">
      <a:srgbClr val="D26954"/>
    </a:custClr>
    <a:custClr name="Deloitte Green">
      <a:srgbClr val="B5453A"/>
    </a:custClr>
    <a:custClr name="Green 2">
      <a:srgbClr val="E58D3B"/>
    </a:custClr>
    <a:custClr name="Green 1">
      <a:srgbClr val="F4D9A8"/>
    </a:custClr>
    <a:custClr name="Teal 7">
      <a:srgbClr val="5C3A2E"/>
    </a:custClr>
    <a:custClr name="Teal 6">
      <a:srgbClr val="7A4A33"/>
    </a:custClr>
    <a:custClr name="Teal 5">
      <a:srgbClr val="B58563"/>
    </a:custClr>
    <a:custClr name="Teal 4">
      <a:srgbClr val="D26954"/>
    </a:custClr>
    <a:custClr name="Teal 3">
      <a:srgbClr val="E8D9C2"/>
    </a:custClr>
    <a:custClr name="Teal 2">
      <a:srgbClr val="F3E9D2"/>
    </a:custClr>
    <a:custClr name="Teal 1">
      <a:srgbClr val="FAF5EB"/>
    </a:custClr>
    <a:custClr name="Blue 7">
      <a:srgbClr val="1B2330"/>
    </a:custClr>
    <a:custClr name="Blue 6">
      <a:srgbClr val="1B2330"/>
    </a:custClr>
    <a:custClr name="Blue 5">
      <a:srgbClr val="2D3540"/>
    </a:custClr>
    <a:custClr name="Blue 4">
      <a:srgbClr val="5C6470"/>
    </a:custClr>
    <a:custClr name="Blue 3">
      <a:srgbClr val="B5453A"/>
    </a:custClr>
    <a:custClr name="Blue 2">
      <a:srgbClr val="D26954"/>
    </a:custClr>
    <a:custClr name="Blue 1">
      <a:srgbClr val="F4D9A8"/>
    </a:custClr>
    <a:custClr name="Cool Gray 11">
      <a:srgbClr val="1B2330"/>
    </a:custClr>
    <a:custClr name="Cool Gray 10">
      <a:srgbClr val="5C6470"/>
    </a:custClr>
    <a:custClr name="Cool Gray 9">
      <a:srgbClr val="7A8290"/>
    </a:custClr>
    <a:custClr name="Cool Gray 7">
      <a:srgbClr val="A0A6AE"/>
    </a:custClr>
    <a:custClr name="Cool Gray 6">
      <a:srgbClr val="B8BDC4"/>
    </a:custClr>
    <a:custClr name="Cool Gray 4">
      <a:srgbClr val="C8CDD2"/>
    </a:custClr>
    <a:custClr name="Cool Gray 2">
      <a:srgbClr val="E8D9C2"/>
    </a:custClr>
    <a:custClr name="White">
      <a:srgbClr val="FFFFFF"/>
    </a:custClr>
    <a:custClr name="Black">
      <a:srgbClr val="000000"/>
    </a:custClr>
    <a:custClr name="Red">
      <a:srgbClr val="B5453A"/>
    </a:custClr>
    <a:custClr name="Orange">
      <a:srgbClr val="B5453A"/>
    </a:custClr>
    <a:custClr name="Yellow">
      <a:srgbClr val="E58D3B"/>
    </a:custClr>
  </a:custClrLst>
  <a:extLst>
    <a:ext uri="{05A4C25C-085E-4340-85A3-A5531E510DB2}">
      <thm15:themeFamily xmlns:thm15="http://schemas.microsoft.com/office/thememl/2012/main" name="DT Template_A4_J.potx" id="{8D78AEF0-12E4-474D-85EB-14BC62C9CFDD}" vid="{04FC4B16-B994-4A24-B481-723C27E790D8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77B8C90359DD4ABC2D8042C48355C0" ma:contentTypeVersion="1" ma:contentTypeDescription="Create a new document." ma:contentTypeScope="" ma:versionID="23d5daba649109ece8319c044c82fd44">
  <xsd:schema xmlns:xsd="http://www.w3.org/2001/XMLSchema" xmlns:xs="http://www.w3.org/2001/XMLSchema" xmlns:p="http://schemas.microsoft.com/office/2006/metadata/properties" xmlns:ns2="1b1a57ed-0815-435c-9314-a86dda944aa8" targetNamespace="http://schemas.microsoft.com/office/2006/metadata/properties" ma:root="true" ma:fieldsID="58bbdb4875cafb5615ea1b87931cb498" ns2:_="">
    <xsd:import namespace="1b1a57ed-0815-435c-9314-a86dda944aa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a57ed-0815-435c-9314-a86dda944a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21B286-A395-480F-812B-D3810D1663A3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c633123c-0806-488e-8416-d21386cce06b"/>
    <ds:schemaRef ds:uri="http://schemas.microsoft.com/office/2006/metadata/properties"/>
    <ds:schemaRef ds:uri="http://purl.org/dc/dcmitype/"/>
    <ds:schemaRef ds:uri="http://www.w3.org/XML/1998/namespace"/>
    <ds:schemaRef ds:uri="49846136-0b0d-4429-9e2a-7113e5a06a57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30C252E-ED41-4E29-B284-AA0871E7B1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1a57ed-0815-435c-9314-a86dda944a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8AA1D0-061B-4BB1-8ACF-CE55044D85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 Template_A4_J (1)</Template>
  <TotalTime>634</TotalTime>
  <Words>1932</Words>
  <Application>Microsoft Office PowerPoint</Application>
  <PresentationFormat>A4 210 x 297 mm</PresentationFormat>
  <Paragraphs>385</Paragraphs>
  <Slides>30</Slides>
  <Notes>29</Notes>
  <HiddenSlides>1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40" baseType="lpstr">
      <vt:lpstr>ＭＳ Ｐゴシック</vt:lpstr>
      <vt:lpstr>Arial</vt:lpstr>
      <vt:lpstr>Calibri</vt:lpstr>
      <vt:lpstr>Calibri Light</vt:lpstr>
      <vt:lpstr>Verdana</vt:lpstr>
      <vt:lpstr>Wingdings</vt:lpstr>
      <vt:lpstr>Wingdings 2</vt:lpstr>
      <vt:lpstr>DT Template_A4_J_202201</vt:lpstr>
      <vt:lpstr>DT Template_A4_J_202201_補足版</vt:lpstr>
      <vt:lpstr>think-cell スライド</vt:lpstr>
      <vt:lpstr>PPTチェックテスト</vt:lpstr>
      <vt:lpstr>インストラクション キーラインの指示に従い、左側の例と同じものを右側に作成にしなさい</vt:lpstr>
      <vt:lpstr>PowerPoint プレゼンテーション</vt:lpstr>
      <vt:lpstr>ボックス中の余白を上・左1cmに設定してください</vt:lpstr>
      <vt:lpstr>ボックス中のテキストを上詰め、左寄せにしてください</vt:lpstr>
      <vt:lpstr>段落の間隔をそれぞれ「段落前12pt, 6pt」に設定してください</vt:lpstr>
      <vt:lpstr>文字サイズを「14pt」、フォントを「Calibri Light 本文」に変更してください</vt:lpstr>
      <vt:lpstr>箇条書きの行頭および階層を変更してください（インデントマーカーで設定すること）</vt:lpstr>
      <vt:lpstr>タブを使用して、体裁を整えてください</vt:lpstr>
      <vt:lpstr>テキストの背景に「○△×」を白抜きで書いてください（〇:88pt, △:88pt, ✖:135pt）</vt:lpstr>
      <vt:lpstr> 以下のボックスをコネクタ（3pt、矢印）で結んでください（コネクタの色:図形枠と同じ色を使用）</vt:lpstr>
      <vt:lpstr>ボックスをOrange枠に沿うように整列させてください</vt:lpstr>
      <vt:lpstr>円の中心をそろえ、カラーパレット最上段を使い、色を変更してください</vt:lpstr>
      <vt:lpstr>前面へ移動／背面へ移動を使用し、重なりの仕方を変えてください</vt:lpstr>
      <vt:lpstr>     グループ化してから縮小することで、 Orange枠の中に図を収めてください</vt:lpstr>
      <vt:lpstr>図形を指定されたサイズに変更してください（図形を移動させてはいけない）</vt:lpstr>
      <vt:lpstr>赤色の図形は移動せずに、既存の図形を加工して、例と同じ図を描いてください</vt:lpstr>
      <vt:lpstr>囲み線（4.5pt Orange 点線（丸））を書いてください</vt:lpstr>
      <vt:lpstr>上の図形を拡張メタファイルにして貼り付けてください</vt:lpstr>
      <vt:lpstr>表のスタイルを解除し、罫線（黒、1pt、格子）を引いてください</vt:lpstr>
      <vt:lpstr>セルの高さ・幅をそろえてください</vt:lpstr>
      <vt:lpstr>セルを結合し、表を階段上に整形してください</vt:lpstr>
      <vt:lpstr>表上に、3ptのOrangeの罫線（破線）を引いてください</vt:lpstr>
      <vt:lpstr>“ホームベース”を90度回転し、中の文字を逆に90度回転してください</vt:lpstr>
      <vt:lpstr>箇条書きの順序を並び替えてください</vt:lpstr>
      <vt:lpstr>一番上の図形の書式を、その下の図形に貼り付けてください（列毎に）</vt:lpstr>
      <vt:lpstr>図形の変更を用いて、図形を「正方形／長方形」に変更してください</vt:lpstr>
      <vt:lpstr>グラフ機能を使用し、チャートを作成してください</vt:lpstr>
      <vt:lpstr>（補足）設問25のデータ中身</vt:lpstr>
      <vt:lpstr>PowerPoint プレゼンテーション</vt:lpstr>
    </vt:vector>
  </TitlesOfParts>
  <Manager/>
  <Company>DTT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PPTチェックテスト</dc:title>
  <dc:creator>Wakabayashi, Tsubasa</dc:creator>
  <cp:lastModifiedBy>Yuhi Matsushita</cp:lastModifiedBy>
  <cp:revision>57</cp:revision>
  <cp:lastPrinted>2019-06-13T07:52:20Z</cp:lastPrinted>
  <dcterms:created xsi:type="dcterms:W3CDTF">2022-06-06T07:03:55Z</dcterms:created>
  <dcterms:modified xsi:type="dcterms:W3CDTF">2026-05-14T16:00:56Z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0x0101004B77B8C90359DD4ABC2D8042C48355C0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2021-06-10T06:45:02Z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345753b9-61e8-4351-aba5-64732c5426f6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SIP_Label_19006cc7-c70d-4bd8-a78b-fbf04854936c_Enabled">
    <vt:lpwstr>true</vt:lpwstr>
  </property>
  <property fmtid="{D5CDD505-2E9C-101B-9397-08002B2CF9AE}" pid="11" name="MSIP_Label_19006cc7-c70d-4bd8-a78b-fbf04854936c_SetDate">
    <vt:lpwstr>2023-09-19T01:01:00Z</vt:lpwstr>
  </property>
  <property fmtid="{D5CDD505-2E9C-101B-9397-08002B2CF9AE}" pid="12" name="MSIP_Label_19006cc7-c70d-4bd8-a78b-fbf04854936c_Method">
    <vt:lpwstr>Standard</vt:lpwstr>
  </property>
  <property fmtid="{D5CDD505-2E9C-101B-9397-08002B2CF9AE}" pid="13" name="MSIP_Label_19006cc7-c70d-4bd8-a78b-fbf04854936c_Name">
    <vt:lpwstr>19006cc7-c70d-4bd8-a78b-fbf04854936c</vt:lpwstr>
  </property>
  <property fmtid="{D5CDD505-2E9C-101B-9397-08002B2CF9AE}" pid="14" name="MSIP_Label_19006cc7-c70d-4bd8-a78b-fbf04854936c_SiteId">
    <vt:lpwstr>8e321739-7ad8-452b-9db9-5d4406095d62</vt:lpwstr>
  </property>
  <property fmtid="{D5CDD505-2E9C-101B-9397-08002B2CF9AE}" pid="15" name="MSIP_Label_19006cc7-c70d-4bd8-a78b-fbf04854936c_ActionId">
    <vt:lpwstr>da7c2af5-22e0-47de-8312-d85a088aee95</vt:lpwstr>
  </property>
  <property fmtid="{D5CDD505-2E9C-101B-9397-08002B2CF9AE}" pid="16" name="MSIP_Label_19006cc7-c70d-4bd8-a78b-fbf04854936c_ContentBits">
    <vt:lpwstr>0</vt:lpwstr>
  </property>
</Properties>
</file>